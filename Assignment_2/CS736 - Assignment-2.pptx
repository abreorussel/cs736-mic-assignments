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a18ac32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a18ac32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1003d45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1003d45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1003d45e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1003d45e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1003d45e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1003d45e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1003d45e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1003d45e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1003d45e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31003d45e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1003d45e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31003d45e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1003d45e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1003d45e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1003d45e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31003d45e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1003d45e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31003d45e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1003d45e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31003d45e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1003d45e5_2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1003d45e5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ba18ac326_1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2ba18ac326_1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1003d45e5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31003d45e5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1003d45e5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1003d45e5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31003d45e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31003d45e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1003d45e5_2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31003d45e5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1003d45e5_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31003d45e5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31003d45e5_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31003d45e5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31003d45e5_2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31003d45e5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1003d45e5_2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31003d45e5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31003d45e5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31003d45e5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31003d45e5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31003d45e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31003d45e5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31003d45e5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31003d45e5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31003d45e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31003d45e5_2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31003d45e5_2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31003d45e5_2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31003d45e5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2f21fc566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2f21fc566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Relationship Id="rId4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Relationship Id="rId4" Type="http://schemas.openxmlformats.org/officeDocument/2006/relationships/image" Target="../media/image18.png"/><Relationship Id="rId5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247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CS736 - Assignment-2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571750"/>
            <a:ext cx="8520600" cy="21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81">
                <a:solidFill>
                  <a:schemeClr val="lt1"/>
                </a:solidFill>
              </a:rPr>
              <a:t>Team Members</a:t>
            </a:r>
            <a:endParaRPr b="1" sz="328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81">
              <a:solidFill>
                <a:schemeClr val="lt1"/>
              </a:solidFill>
            </a:endParaRPr>
          </a:p>
          <a:p>
            <a:pPr indent="-32639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>
                <a:solidFill>
                  <a:schemeClr val="lt1"/>
                </a:solidFill>
              </a:rPr>
              <a:t>Atharv Shingewar (24M0834)</a:t>
            </a:r>
            <a:endParaRPr>
              <a:solidFill>
                <a:schemeClr val="lt1"/>
              </a:solidFill>
            </a:endParaRPr>
          </a:p>
          <a:p>
            <a:pPr indent="-32639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>
                <a:solidFill>
                  <a:schemeClr val="lt1"/>
                </a:solidFill>
              </a:rPr>
              <a:t>Russel Abreo        (24M2107)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Under the Guidance of :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Prof. Suyash Awate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23985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Q1b - Radon Transform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4425" y="993750"/>
            <a:ext cx="5126600" cy="38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0" y="23985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Q1c - Radon Transforms  |  s= 0.5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8700" y="1091775"/>
            <a:ext cx="5126600" cy="38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311700" y="23985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Q1 - Radon Transforms | s = 1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8700" y="1059175"/>
            <a:ext cx="5126600" cy="38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ctrTitle"/>
          </p:nvPr>
        </p:nvSpPr>
        <p:spPr>
          <a:xfrm>
            <a:off x="311700" y="23985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Q1 - Radon Transforms | s=3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8700" y="1113525"/>
            <a:ext cx="5126600" cy="38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ctrTitle"/>
          </p:nvPr>
        </p:nvSpPr>
        <p:spPr>
          <a:xfrm>
            <a:off x="311700" y="23985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Q1 - 1D Plot Radon Transforms </a:t>
            </a:r>
            <a:endParaRPr sz="308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s=0.5 , theta=0 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0350" y="1178775"/>
            <a:ext cx="2563300" cy="38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ctrTitle"/>
          </p:nvPr>
        </p:nvSpPr>
        <p:spPr>
          <a:xfrm>
            <a:off x="208775" y="239850"/>
            <a:ext cx="86235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Q1 - 1D Plot Radon Transforms </a:t>
            </a:r>
            <a:endParaRPr sz="308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s=0.5 , theta=90 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875" y="1157025"/>
            <a:ext cx="2563300" cy="38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ctrTitle"/>
          </p:nvPr>
        </p:nvSpPr>
        <p:spPr>
          <a:xfrm>
            <a:off x="311700" y="23985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Q1 - 1D Plot Radon Transforms </a:t>
            </a:r>
            <a:endParaRPr sz="308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s=1 , theta=0 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0350" y="1080925"/>
            <a:ext cx="2563300" cy="38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ctrTitle"/>
          </p:nvPr>
        </p:nvSpPr>
        <p:spPr>
          <a:xfrm>
            <a:off x="311700" y="3159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Q1 - 1D Plot Radon Transforms </a:t>
            </a:r>
            <a:endParaRPr sz="308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s=1 , theta=90 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5725" y="1178775"/>
            <a:ext cx="2512550" cy="37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ctrTitle"/>
          </p:nvPr>
        </p:nvSpPr>
        <p:spPr>
          <a:xfrm>
            <a:off x="311700" y="23985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Q1 - 1D Plot Radon Transforms </a:t>
            </a:r>
            <a:endParaRPr sz="308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s=3 , theta=0 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09" name="Google Shape;1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0350" y="1178775"/>
            <a:ext cx="2563300" cy="38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ctrTitle"/>
          </p:nvPr>
        </p:nvSpPr>
        <p:spPr>
          <a:xfrm>
            <a:off x="311700" y="23985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Q1 - 1D Plot Radon Transforms </a:t>
            </a:r>
            <a:endParaRPr sz="308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s=3 , theta=90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0350" y="1070025"/>
            <a:ext cx="2563300" cy="38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ctrTitle"/>
          </p:nvPr>
        </p:nvSpPr>
        <p:spPr>
          <a:xfrm>
            <a:off x="311700" y="23985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Q1 - d </a:t>
            </a:r>
            <a:endParaRPr sz="3080">
              <a:solidFill>
                <a:schemeClr val="lt1"/>
              </a:solidFill>
            </a:endParaRPr>
          </a:p>
        </p:txBody>
      </p:sp>
      <p:sp>
        <p:nvSpPr>
          <p:cNvPr id="121" name="Google Shape;121;p24"/>
          <p:cNvSpPr txBox="1"/>
          <p:nvPr/>
        </p:nvSpPr>
        <p:spPr>
          <a:xfrm>
            <a:off x="513250" y="1418000"/>
            <a:ext cx="8090400" cy="3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n" sz="1800">
                <a:solidFill>
                  <a:schemeClr val="lt1"/>
                </a:solidFill>
              </a:rPr>
              <a:t>Too large </a:t>
            </a:r>
            <a:r>
              <a:rPr b="1" lang="en" sz="1800">
                <a:solidFill>
                  <a:schemeClr val="lt1"/>
                </a:solidFill>
              </a:rPr>
              <a:t>delta</a:t>
            </a:r>
            <a:r>
              <a:rPr b="1" lang="en" sz="1800">
                <a:solidFill>
                  <a:schemeClr val="lt1"/>
                </a:solidFill>
              </a:rPr>
              <a:t> t:</a:t>
            </a:r>
            <a:r>
              <a:rPr lang="en" sz="1800">
                <a:solidFill>
                  <a:schemeClr val="lt1"/>
                </a:solidFill>
              </a:rPr>
              <a:t> May undersample the projection data, which can lead to missing finer details while </a:t>
            </a:r>
            <a:r>
              <a:rPr lang="en" sz="1800">
                <a:solidFill>
                  <a:schemeClr val="lt1"/>
                </a:solidFill>
              </a:rPr>
              <a:t>reconstruction</a:t>
            </a:r>
            <a:r>
              <a:rPr lang="en" sz="1800">
                <a:solidFill>
                  <a:schemeClr val="lt1"/>
                </a:solidFill>
              </a:rPr>
              <a:t> of images.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n" sz="1800">
                <a:solidFill>
                  <a:schemeClr val="lt1"/>
                </a:solidFill>
              </a:rPr>
              <a:t>Too small delta t: </a:t>
            </a:r>
            <a:r>
              <a:rPr lang="en" sz="1800">
                <a:solidFill>
                  <a:schemeClr val="lt1"/>
                </a:solidFill>
              </a:rPr>
              <a:t>Can help with catching finer details but with extremely small delta_t may cause increase in noise.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n" sz="1800">
                <a:solidFill>
                  <a:schemeClr val="lt1"/>
                </a:solidFill>
              </a:rPr>
              <a:t>Too large delta_theta: </a:t>
            </a:r>
            <a:r>
              <a:rPr lang="en" sz="1800">
                <a:solidFill>
                  <a:schemeClr val="lt1"/>
                </a:solidFill>
              </a:rPr>
              <a:t> With very large delta_theta, certain angular components may be missed during reconstruction of images.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n" sz="1800">
                <a:solidFill>
                  <a:schemeClr val="lt1"/>
                </a:solidFill>
              </a:rPr>
              <a:t>Too small delta_theta: </a:t>
            </a:r>
            <a:r>
              <a:rPr lang="en" sz="1800">
                <a:solidFill>
                  <a:schemeClr val="lt1"/>
                </a:solidFill>
              </a:rPr>
              <a:t>Will cause increase in scan times, reconstruction will be expensive(compute) and this will also lead to high does of radiation.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ctrTitle"/>
          </p:nvPr>
        </p:nvSpPr>
        <p:spPr>
          <a:xfrm>
            <a:off x="311700" y="23985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Q1 - e </a:t>
            </a:r>
            <a:endParaRPr sz="3080">
              <a:solidFill>
                <a:schemeClr val="lt1"/>
              </a:solidFill>
            </a:endParaRPr>
          </a:p>
        </p:txBody>
      </p:sp>
      <p:sp>
        <p:nvSpPr>
          <p:cNvPr id="127" name="Google Shape;127;p25"/>
          <p:cNvSpPr txBox="1"/>
          <p:nvPr/>
        </p:nvSpPr>
        <p:spPr>
          <a:xfrm>
            <a:off x="513250" y="1189400"/>
            <a:ext cx="8090400" cy="3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Smaller pixel size would yield better detail at the cost of increased computation.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For delta s &gt;&gt; 1 pixel width : There would be few sampled points due to the large step size. It would lead to loss of fine details during the reconstruction process . This would be a good choice when computation is restriction.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For delta s &lt;&lt; 1 : With more sample points there would be an improved reconstruction. But it would increase memory usage and computational cost. 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Q2a. Ram-Lak (L = Wmax, L = Wmax / 2)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33" name="Google Shape;133;p26"/>
          <p:cNvPicPr preferRelativeResize="0"/>
          <p:nvPr/>
        </p:nvPicPr>
        <p:blipFill rotWithShape="1">
          <a:blip r:embed="rId3">
            <a:alphaModFix/>
          </a:blip>
          <a:srcRect b="4759" l="16663" r="15682" t="5946"/>
          <a:stretch/>
        </p:blipFill>
        <p:spPr>
          <a:xfrm>
            <a:off x="1020275" y="1295825"/>
            <a:ext cx="3476301" cy="34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6"/>
          <p:cNvPicPr preferRelativeResize="0"/>
          <p:nvPr/>
        </p:nvPicPr>
        <p:blipFill rotWithShape="1">
          <a:blip r:embed="rId4">
            <a:alphaModFix/>
          </a:blip>
          <a:srcRect b="4384" l="16097" r="15287" t="6313"/>
          <a:stretch/>
        </p:blipFill>
        <p:spPr>
          <a:xfrm>
            <a:off x="4981375" y="1295825"/>
            <a:ext cx="3524754" cy="34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Q2a. Shepp-Logan</a:t>
            </a:r>
            <a:r>
              <a:rPr lang="en" sz="3080">
                <a:solidFill>
                  <a:schemeClr val="lt1"/>
                </a:solidFill>
              </a:rPr>
              <a:t> (L = Wmax, L = Wmax / 2)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40" name="Google Shape;140;p27"/>
          <p:cNvPicPr preferRelativeResize="0"/>
          <p:nvPr/>
        </p:nvPicPr>
        <p:blipFill rotWithShape="1">
          <a:blip r:embed="rId3">
            <a:alphaModFix/>
          </a:blip>
          <a:srcRect b="4467" l="16241" r="16227" t="6182"/>
          <a:stretch/>
        </p:blipFill>
        <p:spPr>
          <a:xfrm>
            <a:off x="995025" y="1295825"/>
            <a:ext cx="3467282" cy="344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7"/>
          <p:cNvPicPr preferRelativeResize="0"/>
          <p:nvPr/>
        </p:nvPicPr>
        <p:blipFill rotWithShape="1">
          <a:blip r:embed="rId4">
            <a:alphaModFix/>
          </a:blip>
          <a:srcRect b="4805" l="16226" r="16246" t="6534"/>
          <a:stretch/>
        </p:blipFill>
        <p:spPr>
          <a:xfrm>
            <a:off x="5000267" y="1295825"/>
            <a:ext cx="3410109" cy="335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Q2a. Cosine</a:t>
            </a:r>
            <a:r>
              <a:rPr lang="en" sz="3080">
                <a:solidFill>
                  <a:schemeClr val="lt1"/>
                </a:solidFill>
              </a:rPr>
              <a:t> (L = Wmax, L = Wmax / 2)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47" name="Google Shape;147;p28"/>
          <p:cNvPicPr preferRelativeResize="0"/>
          <p:nvPr/>
        </p:nvPicPr>
        <p:blipFill rotWithShape="1">
          <a:blip r:embed="rId3">
            <a:alphaModFix/>
          </a:blip>
          <a:srcRect b="4125" l="16233" r="15983" t="6179"/>
          <a:stretch/>
        </p:blipFill>
        <p:spPr>
          <a:xfrm>
            <a:off x="1209475" y="1257800"/>
            <a:ext cx="3362525" cy="333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8"/>
          <p:cNvPicPr preferRelativeResize="0"/>
          <p:nvPr/>
        </p:nvPicPr>
        <p:blipFill rotWithShape="1">
          <a:blip r:embed="rId4">
            <a:alphaModFix/>
          </a:blip>
          <a:srcRect b="4125" l="16227" r="15989" t="6179"/>
          <a:stretch/>
        </p:blipFill>
        <p:spPr>
          <a:xfrm>
            <a:off x="4941425" y="1257797"/>
            <a:ext cx="3362525" cy="3336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Q2b. Blurred Images(S0[Unblurred], S1, S5)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54" name="Google Shape;154;p29"/>
          <p:cNvPicPr preferRelativeResize="0"/>
          <p:nvPr/>
        </p:nvPicPr>
        <p:blipFill rotWithShape="1">
          <a:blip r:embed="rId3">
            <a:alphaModFix/>
          </a:blip>
          <a:srcRect b="4451" l="17117" r="16149" t="6864"/>
          <a:stretch/>
        </p:blipFill>
        <p:spPr>
          <a:xfrm>
            <a:off x="0" y="1461350"/>
            <a:ext cx="2888501" cy="287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9"/>
          <p:cNvPicPr preferRelativeResize="0"/>
          <p:nvPr/>
        </p:nvPicPr>
        <p:blipFill rotWithShape="1">
          <a:blip r:embed="rId4">
            <a:alphaModFix/>
          </a:blip>
          <a:srcRect b="5072" l="16822" r="16206" t="6557"/>
          <a:stretch/>
        </p:blipFill>
        <p:spPr>
          <a:xfrm>
            <a:off x="3018550" y="1461350"/>
            <a:ext cx="2908557" cy="287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9"/>
          <p:cNvPicPr preferRelativeResize="0"/>
          <p:nvPr/>
        </p:nvPicPr>
        <p:blipFill rotWithShape="1">
          <a:blip r:embed="rId5">
            <a:alphaModFix/>
          </a:blip>
          <a:srcRect b="4502" l="15885" r="15494" t="5625"/>
          <a:stretch/>
        </p:blipFill>
        <p:spPr>
          <a:xfrm>
            <a:off x="6057150" y="1461350"/>
            <a:ext cx="2930576" cy="287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Q2b.Reconstructed </a:t>
            </a:r>
            <a:r>
              <a:rPr lang="en" sz="3080">
                <a:solidFill>
                  <a:schemeClr val="lt1"/>
                </a:solidFill>
              </a:rPr>
              <a:t>Blurred Images(R0, R1, R5)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62" name="Google Shape;162;p30"/>
          <p:cNvPicPr preferRelativeResize="0"/>
          <p:nvPr/>
        </p:nvPicPr>
        <p:blipFill rotWithShape="1">
          <a:blip r:embed="rId3">
            <a:alphaModFix/>
          </a:blip>
          <a:srcRect b="5113" l="16469" r="16058" t="6570"/>
          <a:stretch/>
        </p:blipFill>
        <p:spPr>
          <a:xfrm>
            <a:off x="0" y="1496300"/>
            <a:ext cx="2947626" cy="28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0"/>
          <p:cNvPicPr preferRelativeResize="0"/>
          <p:nvPr/>
        </p:nvPicPr>
        <p:blipFill rotWithShape="1">
          <a:blip r:embed="rId4">
            <a:alphaModFix/>
          </a:blip>
          <a:srcRect b="5113" l="16111" r="16421" t="6578"/>
          <a:stretch/>
        </p:blipFill>
        <p:spPr>
          <a:xfrm>
            <a:off x="3098187" y="1496300"/>
            <a:ext cx="2947626" cy="2893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0"/>
          <p:cNvPicPr preferRelativeResize="0"/>
          <p:nvPr/>
        </p:nvPicPr>
        <p:blipFill rotWithShape="1">
          <a:blip r:embed="rId5">
            <a:alphaModFix/>
          </a:blip>
          <a:srcRect b="5113" l="16448" r="16084" t="6578"/>
          <a:stretch/>
        </p:blipFill>
        <p:spPr>
          <a:xfrm>
            <a:off x="6196375" y="1496300"/>
            <a:ext cx="2947626" cy="2893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Q2b. RRMSE Values</a:t>
            </a:r>
            <a:r>
              <a:rPr lang="en" sz="3080">
                <a:solidFill>
                  <a:schemeClr val="lt1"/>
                </a:solidFill>
              </a:rPr>
              <a:t>(R0, R1, R5)</a:t>
            </a:r>
            <a:endParaRPr sz="3080">
              <a:solidFill>
                <a:schemeClr val="lt1"/>
              </a:solidFill>
            </a:endParaRPr>
          </a:p>
        </p:txBody>
      </p:sp>
      <p:sp>
        <p:nvSpPr>
          <p:cNvPr id="170" name="Google Shape;170;p31"/>
          <p:cNvSpPr txBox="1"/>
          <p:nvPr/>
        </p:nvSpPr>
        <p:spPr>
          <a:xfrm>
            <a:off x="547325" y="1390425"/>
            <a:ext cx="45876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 sz="1800">
                <a:solidFill>
                  <a:schemeClr val="lt1"/>
                </a:solidFill>
              </a:rPr>
              <a:t>RRMSE for phantom : 0.6598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 sz="1800">
                <a:solidFill>
                  <a:schemeClr val="lt1"/>
                </a:solidFill>
              </a:rPr>
              <a:t>RRMSE for blurred_1 : 0.6594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 sz="1800">
                <a:solidFill>
                  <a:schemeClr val="lt1"/>
                </a:solidFill>
              </a:rPr>
              <a:t>RRMSE for blurred_5 : 0.7382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Q2c. RRMSE values as a function of L: R0</a:t>
            </a:r>
            <a:endParaRPr sz="3080">
              <a:solidFill>
                <a:schemeClr val="lt1"/>
              </a:solidFill>
            </a:endParaRPr>
          </a:p>
        </p:txBody>
      </p:sp>
      <p:sp>
        <p:nvSpPr>
          <p:cNvPr id="176" name="Google Shape;176;p32"/>
          <p:cNvSpPr txBox="1"/>
          <p:nvPr/>
        </p:nvSpPr>
        <p:spPr>
          <a:xfrm>
            <a:off x="547325" y="1390425"/>
            <a:ext cx="45876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7" name="Google Shape;17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1638" y="1056100"/>
            <a:ext cx="6380726" cy="398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Q2c. </a:t>
            </a:r>
            <a:r>
              <a:rPr lang="en" sz="3080">
                <a:solidFill>
                  <a:schemeClr val="lt1"/>
                </a:solidFill>
              </a:rPr>
              <a:t>RRMSE values as a function of L: R1</a:t>
            </a:r>
            <a:endParaRPr sz="3080">
              <a:solidFill>
                <a:schemeClr val="lt1"/>
              </a:solidFill>
            </a:endParaRPr>
          </a:p>
        </p:txBody>
      </p:sp>
      <p:sp>
        <p:nvSpPr>
          <p:cNvPr id="183" name="Google Shape;183;p33"/>
          <p:cNvSpPr txBox="1"/>
          <p:nvPr/>
        </p:nvSpPr>
        <p:spPr>
          <a:xfrm>
            <a:off x="547325" y="1390425"/>
            <a:ext cx="45876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84" name="Google Shape;18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1638" y="1056100"/>
            <a:ext cx="6380726" cy="398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Q2c. </a:t>
            </a:r>
            <a:r>
              <a:rPr lang="en" sz="3080">
                <a:solidFill>
                  <a:schemeClr val="lt1"/>
                </a:solidFill>
              </a:rPr>
              <a:t>RRMSE values as a function of L: R5</a:t>
            </a:r>
            <a:endParaRPr sz="3080">
              <a:solidFill>
                <a:schemeClr val="lt1"/>
              </a:solidFill>
            </a:endParaRPr>
          </a:p>
        </p:txBody>
      </p:sp>
      <p:sp>
        <p:nvSpPr>
          <p:cNvPr id="190" name="Google Shape;190;p34"/>
          <p:cNvSpPr txBox="1"/>
          <p:nvPr/>
        </p:nvSpPr>
        <p:spPr>
          <a:xfrm>
            <a:off x="547325" y="1390425"/>
            <a:ext cx="4587600" cy="1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91" name="Google Shape;19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1638" y="1056100"/>
            <a:ext cx="6380726" cy="398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Q3a - RRMSE chest CT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97" name="Google Shape;19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175" y="1039700"/>
            <a:ext cx="6165640" cy="385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Q3a - RRMSE Phantom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203" name="Google Shape;20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175" y="985175"/>
            <a:ext cx="6165640" cy="385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Q3b - Reconstructed chest CT</a:t>
            </a:r>
            <a:endParaRPr sz="308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theta = 48, RRMSE = 0.6122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209" name="Google Shape;209;p37"/>
          <p:cNvPicPr preferRelativeResize="0"/>
          <p:nvPr/>
        </p:nvPicPr>
        <p:blipFill rotWithShape="1">
          <a:blip r:embed="rId3">
            <a:alphaModFix/>
          </a:blip>
          <a:srcRect b="0" l="15019" r="14928" t="3044"/>
          <a:stretch/>
        </p:blipFill>
        <p:spPr>
          <a:xfrm>
            <a:off x="2772325" y="1157000"/>
            <a:ext cx="3599350" cy="373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Q3b - Reconstructed Phantom</a:t>
            </a:r>
            <a:endParaRPr sz="308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theta = 105, RRMSE = 0.6494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215" name="Google Shape;215;p38"/>
          <p:cNvPicPr preferRelativeResize="0"/>
          <p:nvPr/>
        </p:nvPicPr>
        <p:blipFill rotWithShape="1">
          <a:blip r:embed="rId3">
            <a:alphaModFix/>
          </a:blip>
          <a:srcRect b="0" l="13162" r="15301" t="0"/>
          <a:stretch/>
        </p:blipFill>
        <p:spPr>
          <a:xfrm>
            <a:off x="2481500" y="1104975"/>
            <a:ext cx="3675475" cy="385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9"/>
          <p:cNvSpPr txBox="1"/>
          <p:nvPr>
            <p:ph type="ctrTitle"/>
          </p:nvPr>
        </p:nvSpPr>
        <p:spPr>
          <a:xfrm>
            <a:off x="311688" y="10120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Q4 Reconstructed Image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221" name="Google Shape;221;p39"/>
          <p:cNvPicPr preferRelativeResize="0"/>
          <p:nvPr/>
        </p:nvPicPr>
        <p:blipFill rotWithShape="1">
          <a:blip r:embed="rId3">
            <a:alphaModFix/>
          </a:blip>
          <a:srcRect b="7902" l="8569" r="11340" t="9860"/>
          <a:stretch/>
        </p:blipFill>
        <p:spPr>
          <a:xfrm>
            <a:off x="2768287" y="985175"/>
            <a:ext cx="3607425" cy="370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0"/>
          <p:cNvSpPr txBox="1"/>
          <p:nvPr>
            <p:ph type="ctrTitle"/>
          </p:nvPr>
        </p:nvSpPr>
        <p:spPr>
          <a:xfrm>
            <a:off x="311688" y="10120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Q4: RRMSE vs Iterations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227" name="Google Shape;227;p40"/>
          <p:cNvPicPr preferRelativeResize="0"/>
          <p:nvPr/>
        </p:nvPicPr>
        <p:blipFill rotWithShape="1">
          <a:blip r:embed="rId3">
            <a:alphaModFix/>
          </a:blip>
          <a:srcRect b="3384" l="1260" r="4657" t="5132"/>
          <a:stretch/>
        </p:blipFill>
        <p:spPr>
          <a:xfrm>
            <a:off x="2744650" y="964725"/>
            <a:ext cx="3963049" cy="385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1"/>
          <p:cNvSpPr txBox="1"/>
          <p:nvPr>
            <p:ph type="ctrTitle"/>
          </p:nvPr>
        </p:nvSpPr>
        <p:spPr>
          <a:xfrm>
            <a:off x="708750" y="2038950"/>
            <a:ext cx="7726500" cy="10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" sz="6580">
                <a:solidFill>
                  <a:schemeClr val="lt1"/>
                </a:solidFill>
              </a:rPr>
              <a:t>Thank You</a:t>
            </a:r>
            <a:endParaRPr b="1" i="1" sz="658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