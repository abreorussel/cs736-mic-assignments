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a18ac3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a18ac3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ba18ac32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2ba18ac32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ba18ac32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ba18ac32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ba18ac32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ba18ac32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ba18ac326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ba18ac326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ba18ac326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ba18ac326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ba18ac32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ba18ac32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ba18ac326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ba18ac326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ba18ac326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ba18ac326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ba18ac326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ba18ac326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ba18ac326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ba18ac326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ba18ac326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ba18ac326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ba18ac32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ba18ac32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ba18ac326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ba18ac326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ba18ac326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ba18ac326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ba18ac326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ba18ac326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ba18ac326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ba18ac326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ba18ac326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ba18ac326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ba18ac326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ba18ac326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ba18ac326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ba18ac326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ba18ac326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2ba18ac326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ba18ac326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ba18ac326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ba18ac326_1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ba18ac326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ba18ac326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2ba18ac326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ba18ac326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2ba18ac326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f21fc56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2f21fc56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f21fc566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2f21fc566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f21fc566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f21fc566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ba18ac32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2ba18ac32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2f21fc566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2f21fc566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f21fc566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2f21fc56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f21fc566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2f21fc566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2f21fc566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2f21fc566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ba18ac326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ba18ac326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f21fc566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2f21fc566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4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CS736 - Assignment-1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81">
                <a:solidFill>
                  <a:schemeClr val="lt1"/>
                </a:solidFill>
              </a:rPr>
              <a:t>Team Members</a:t>
            </a:r>
            <a:endParaRPr b="1" sz="328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81">
              <a:solidFill>
                <a:schemeClr val="lt1"/>
              </a:solidFill>
            </a:endParaRPr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Atharv Shingewar (24M0834)</a:t>
            </a:r>
            <a:endParaRPr>
              <a:solidFill>
                <a:schemeClr val="lt1"/>
              </a:solidFill>
            </a:endParaRPr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Russel Abreo        (24M2107)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Under the Guidance of 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Prof. Suyash Awate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Optimal Parameters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993750"/>
            <a:ext cx="2724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Quadratic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81" u="sng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0.1062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) = 0.28108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) = 0.28141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) = 0.28153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018550" y="993750"/>
            <a:ext cx="2724000" cy="41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Discontinuity-adaptive Huber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 u="sng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0.96612,                   γ∗ = 0.04165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γ ∗ ) = 0.24063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, γ ∗ ) = 0.24063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, γ ∗ ) = 0.24281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1.2γ ∗ ) = 0.24110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6. </a:t>
            </a:r>
            <a:r>
              <a:rPr lang="en" sz="1500">
                <a:solidFill>
                  <a:schemeClr val="lt1"/>
                </a:solidFill>
              </a:rPr>
              <a:t>RRMSE(α∗ , 0.8γ ∗ ) = 0.24075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6031075" y="993750"/>
            <a:ext cx="2724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Discontinuity-adaptive 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 u="sng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0.93340,                   γ∗ = 0.04064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γ ∗ ) = 0.24492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, γ ∗ ) = 0.24492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, γ ∗ ) = 0.24952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1.2γ ∗ ) = 0.24493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6. RRMSE(α∗ , 0.8γ ∗ ) = 0.24552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Noiseless and Noisy Image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11982" l="23086" r="20205" t="12081"/>
          <a:stretch/>
        </p:blipFill>
        <p:spPr>
          <a:xfrm>
            <a:off x="1734638" y="1359525"/>
            <a:ext cx="2805525" cy="28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12342" l="22365" r="19918" t="12077"/>
          <a:stretch/>
        </p:blipFill>
        <p:spPr>
          <a:xfrm>
            <a:off x="4540163" y="1359525"/>
            <a:ext cx="2869190" cy="281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Denoised Images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10980" l="22903" r="19651" t="13502"/>
          <a:stretch/>
        </p:blipFill>
        <p:spPr>
          <a:xfrm>
            <a:off x="311700" y="1548475"/>
            <a:ext cx="2608650" cy="25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646425" y="4239050"/>
            <a:ext cx="1939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Quadratic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11757" l="22502" r="20270" t="12924"/>
          <a:stretch/>
        </p:blipFill>
        <p:spPr>
          <a:xfrm>
            <a:off x="3241938" y="1493125"/>
            <a:ext cx="2660125" cy="26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166574" y="4239050"/>
            <a:ext cx="29361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Discontinuity-adaptive Huber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5">
            <a:alphaModFix/>
          </a:blip>
          <a:srcRect b="11707" l="22307" r="20670" t="13341"/>
          <a:stretch/>
        </p:blipFill>
        <p:spPr>
          <a:xfrm>
            <a:off x="6172175" y="1494825"/>
            <a:ext cx="2660125" cy="26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6330028" y="4239050"/>
            <a:ext cx="24477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Discontinuity-adaptive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Q2 - Optimal Parameters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11700" y="993750"/>
            <a:ext cx="2724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Quadratic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81" u="sng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</a:t>
            </a:r>
            <a:r>
              <a:rPr lang="en" sz="1500">
                <a:solidFill>
                  <a:schemeClr val="lt1"/>
                </a:solidFill>
              </a:rPr>
              <a:t>0.14228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) = </a:t>
            </a:r>
            <a:r>
              <a:rPr lang="en" sz="1500">
                <a:solidFill>
                  <a:schemeClr val="lt1"/>
                </a:solidFill>
              </a:rPr>
              <a:t>0.12206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) = </a:t>
            </a:r>
            <a:r>
              <a:rPr lang="en" sz="1500">
                <a:solidFill>
                  <a:schemeClr val="lt1"/>
                </a:solidFill>
              </a:rPr>
              <a:t>0.12246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) = </a:t>
            </a:r>
            <a:r>
              <a:rPr lang="en" sz="1500">
                <a:solidFill>
                  <a:schemeClr val="lt1"/>
                </a:solidFill>
              </a:rPr>
              <a:t>0.12255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018550" y="993750"/>
            <a:ext cx="2724000" cy="41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Discontinuity-adaptive Huber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 u="sng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</a:t>
            </a:r>
            <a:r>
              <a:rPr lang="en" sz="1500">
                <a:solidFill>
                  <a:schemeClr val="lt1"/>
                </a:solidFill>
              </a:rPr>
              <a:t>0.47034</a:t>
            </a:r>
            <a:r>
              <a:rPr lang="en" sz="1500">
                <a:solidFill>
                  <a:schemeClr val="lt1"/>
                </a:solidFill>
              </a:rPr>
              <a:t>,                   γ∗ = </a:t>
            </a:r>
            <a:r>
              <a:rPr lang="en" sz="1500">
                <a:solidFill>
                  <a:schemeClr val="lt1"/>
                </a:solidFill>
              </a:rPr>
              <a:t>0.06432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γ∗ ) = </a:t>
            </a:r>
            <a:r>
              <a:rPr lang="en" sz="1500">
                <a:solidFill>
                  <a:schemeClr val="lt1"/>
                </a:solidFill>
              </a:rPr>
              <a:t>0.11421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, γ ∗ ) = </a:t>
            </a:r>
            <a:r>
              <a:rPr lang="en" sz="1500">
                <a:solidFill>
                  <a:schemeClr val="lt1"/>
                </a:solidFill>
              </a:rPr>
              <a:t>0.11446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, γ ∗ ) = </a:t>
            </a:r>
            <a:r>
              <a:rPr lang="en" sz="1500">
                <a:solidFill>
                  <a:schemeClr val="lt1"/>
                </a:solidFill>
              </a:rPr>
              <a:t>0.11602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1.2γ ∗ ) = </a:t>
            </a:r>
            <a:r>
              <a:rPr lang="en" sz="1500">
                <a:solidFill>
                  <a:schemeClr val="lt1"/>
                </a:solidFill>
              </a:rPr>
              <a:t>0.11459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6. RRMSE(α∗ , 0.8γ ∗ ) = </a:t>
            </a:r>
            <a:r>
              <a:rPr lang="en" sz="1500">
                <a:solidFill>
                  <a:schemeClr val="lt1"/>
                </a:solidFill>
              </a:rPr>
              <a:t>0.11458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6031075" y="993750"/>
            <a:ext cx="2724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Discontinuity-adaptive 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 u="sng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</a:t>
            </a:r>
            <a:r>
              <a:rPr lang="en" sz="1500">
                <a:solidFill>
                  <a:schemeClr val="lt1"/>
                </a:solidFill>
              </a:rPr>
              <a:t>0.56075</a:t>
            </a:r>
            <a:r>
              <a:rPr lang="en" sz="1500">
                <a:solidFill>
                  <a:schemeClr val="lt1"/>
                </a:solidFill>
              </a:rPr>
              <a:t>,                   γ∗ = </a:t>
            </a:r>
            <a:r>
              <a:rPr lang="en" sz="1500">
                <a:solidFill>
                  <a:schemeClr val="lt1"/>
                </a:solidFill>
              </a:rPr>
              <a:t>0.07235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γ∗ ) = </a:t>
            </a:r>
            <a:r>
              <a:rPr lang="en" sz="1500">
                <a:solidFill>
                  <a:schemeClr val="lt1"/>
                </a:solidFill>
              </a:rPr>
              <a:t>0.11517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, γ ∗ ) = </a:t>
            </a:r>
            <a:r>
              <a:rPr lang="en" sz="1500">
                <a:solidFill>
                  <a:schemeClr val="lt1"/>
                </a:solidFill>
              </a:rPr>
              <a:t>0.11518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, γ ∗ ) = </a:t>
            </a:r>
            <a:r>
              <a:rPr lang="en" sz="1500">
                <a:solidFill>
                  <a:schemeClr val="lt1"/>
                </a:solidFill>
              </a:rPr>
              <a:t>0.11749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1.2γ ∗ ) = </a:t>
            </a:r>
            <a:r>
              <a:rPr lang="en" sz="1500">
                <a:solidFill>
                  <a:schemeClr val="lt1"/>
                </a:solidFill>
              </a:rPr>
              <a:t>0.11528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6. RRMSE(α∗ , 0.8γ ∗ ) = </a:t>
            </a:r>
            <a:r>
              <a:rPr lang="en" sz="1500">
                <a:solidFill>
                  <a:schemeClr val="lt1"/>
                </a:solidFill>
              </a:rPr>
              <a:t>0.11548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Q2 - Noiseless/Noisy Image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11300" l="22579" r="19952" t="12751"/>
          <a:stretch/>
        </p:blipFill>
        <p:spPr>
          <a:xfrm>
            <a:off x="1342375" y="1504975"/>
            <a:ext cx="2925150" cy="28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 rotWithShape="1">
          <a:blip r:embed="rId4">
            <a:alphaModFix/>
          </a:blip>
          <a:srcRect b="11300" l="22618" r="19917" t="12751"/>
          <a:stretch/>
        </p:blipFill>
        <p:spPr>
          <a:xfrm>
            <a:off x="4876475" y="1504975"/>
            <a:ext cx="2925150" cy="289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Q2 - Denoised Images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 b="11436" l="22785" r="20107" t="12419"/>
          <a:stretch/>
        </p:blipFill>
        <p:spPr>
          <a:xfrm>
            <a:off x="311700" y="1493138"/>
            <a:ext cx="2622400" cy="26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653300" y="4239050"/>
            <a:ext cx="1939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Quadratic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4">
            <a:alphaModFix/>
          </a:blip>
          <a:srcRect b="10774" l="22310" r="19846" t="12100"/>
          <a:stretch/>
        </p:blipFill>
        <p:spPr>
          <a:xfrm>
            <a:off x="3260800" y="1493138"/>
            <a:ext cx="2622400" cy="26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3260854" y="4239050"/>
            <a:ext cx="2622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Discontinuity-adaptive Huber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5">
            <a:alphaModFix/>
          </a:blip>
          <a:srcRect b="11058" l="22511" r="19811" t="12042"/>
          <a:stretch/>
        </p:blipFill>
        <p:spPr>
          <a:xfrm>
            <a:off x="6209900" y="1493138"/>
            <a:ext cx="2622400" cy="2622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6287475" y="4239050"/>
            <a:ext cx="25449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Discontinuity-adaptive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Q3 - Optimal Parameters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49" name="Google Shape;149;p26"/>
          <p:cNvSpPr txBox="1"/>
          <p:nvPr>
            <p:ph idx="1" type="subTitle"/>
          </p:nvPr>
        </p:nvSpPr>
        <p:spPr>
          <a:xfrm>
            <a:off x="311700" y="993750"/>
            <a:ext cx="2724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squared-L2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81" u="sng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</a:t>
            </a:r>
            <a:r>
              <a:rPr lang="en" sz="1500">
                <a:solidFill>
                  <a:schemeClr val="lt1"/>
                </a:solidFill>
              </a:rPr>
              <a:t>0.5477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) = </a:t>
            </a:r>
            <a:r>
              <a:rPr lang="en" sz="1500">
                <a:solidFill>
                  <a:schemeClr val="lt1"/>
                </a:solidFill>
              </a:rPr>
              <a:t>0.17701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) = </a:t>
            </a:r>
            <a:r>
              <a:rPr lang="en" sz="1500">
                <a:solidFill>
                  <a:schemeClr val="lt1"/>
                </a:solidFill>
              </a:rPr>
              <a:t>0.17712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) = </a:t>
            </a:r>
            <a:r>
              <a:rPr lang="en" sz="1500">
                <a:solidFill>
                  <a:schemeClr val="lt1"/>
                </a:solidFill>
              </a:rPr>
              <a:t>0.17718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50" name="Google Shape;150;p26"/>
          <p:cNvSpPr txBox="1"/>
          <p:nvPr>
            <p:ph idx="1" type="subTitle"/>
          </p:nvPr>
        </p:nvSpPr>
        <p:spPr>
          <a:xfrm>
            <a:off x="3018550" y="993750"/>
            <a:ext cx="2724000" cy="41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L2-norm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 u="sng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</a:t>
            </a:r>
            <a:r>
              <a:rPr lang="en" sz="1500">
                <a:solidFill>
                  <a:schemeClr val="lt1"/>
                </a:solidFill>
              </a:rPr>
              <a:t>0.0955</a:t>
            </a:r>
            <a:endParaRPr sz="1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) = 0.17743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) = 0.17760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) = 0.17761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6031075" y="993750"/>
            <a:ext cx="2724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Prior: </a:t>
            </a:r>
            <a:r>
              <a:rPr i="1" lang="en" sz="1800" u="sng">
                <a:solidFill>
                  <a:schemeClr val="lt1"/>
                </a:solidFill>
              </a:rPr>
              <a:t>(Huber-regularized)</a:t>
            </a:r>
            <a:endParaRPr i="1" sz="1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 u="sng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α∗ = </a:t>
            </a:r>
            <a:r>
              <a:rPr lang="en" sz="1500">
                <a:solidFill>
                  <a:schemeClr val="lt1"/>
                </a:solidFill>
              </a:rPr>
              <a:t>0.4545</a:t>
            </a:r>
            <a:r>
              <a:rPr lang="en" sz="1500">
                <a:solidFill>
                  <a:schemeClr val="lt1"/>
                </a:solidFill>
              </a:rPr>
              <a:t>, γ ∗ = </a:t>
            </a:r>
            <a:r>
              <a:rPr lang="en" sz="1500">
                <a:solidFill>
                  <a:schemeClr val="lt1"/>
                </a:solidFill>
              </a:rPr>
              <a:t>0.1558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γ ∗ ) = </a:t>
            </a:r>
            <a:r>
              <a:rPr lang="en" sz="1500">
                <a:solidFill>
                  <a:schemeClr val="lt1"/>
                </a:solidFill>
              </a:rPr>
              <a:t>0.17738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RRMSE(1.2α∗ , γ ∗ ) = </a:t>
            </a:r>
            <a:r>
              <a:rPr lang="en" sz="1500">
                <a:solidFill>
                  <a:schemeClr val="lt1"/>
                </a:solidFill>
              </a:rPr>
              <a:t>0.17755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RRMSE(0.8α∗ , γ ∗ ) = </a:t>
            </a:r>
            <a:r>
              <a:rPr lang="en" sz="1500">
                <a:solidFill>
                  <a:schemeClr val="lt1"/>
                </a:solidFill>
              </a:rPr>
              <a:t>0.17771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RRMSE(α∗ , 1.2γ ∗ ) = </a:t>
            </a:r>
            <a:r>
              <a:rPr lang="en" sz="1500">
                <a:solidFill>
                  <a:schemeClr val="lt1"/>
                </a:solidFill>
              </a:rPr>
              <a:t>0.17748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 sz="1500">
                <a:solidFill>
                  <a:schemeClr val="lt1"/>
                </a:solidFill>
              </a:rPr>
              <a:t>6. RRMSE(α∗ , 0.8γ ∗ ) = </a:t>
            </a:r>
            <a:r>
              <a:rPr lang="en" sz="1500">
                <a:solidFill>
                  <a:schemeClr val="lt1"/>
                </a:solidFill>
              </a:rPr>
              <a:t>0.17756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Q3 - Noiseless / Noisy Image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 rotWithShape="1">
          <a:blip r:embed="rId3">
            <a:alphaModFix/>
          </a:blip>
          <a:srcRect b="11054" l="12568" r="9941" t="12122"/>
          <a:stretch/>
        </p:blipFill>
        <p:spPr>
          <a:xfrm>
            <a:off x="311700" y="1302675"/>
            <a:ext cx="3981600" cy="296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 rotWithShape="1">
          <a:blip r:embed="rId4">
            <a:alphaModFix/>
          </a:blip>
          <a:srcRect b="11203" l="12743" r="9880" t="12062"/>
          <a:stretch/>
        </p:blipFill>
        <p:spPr>
          <a:xfrm>
            <a:off x="4850700" y="1302675"/>
            <a:ext cx="3981600" cy="2961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Q3 - Denoised Images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3">
            <a:alphaModFix/>
          </a:blip>
          <a:srcRect b="10664" l="12503" r="10024" t="12109"/>
          <a:stretch/>
        </p:blipFill>
        <p:spPr>
          <a:xfrm>
            <a:off x="180913" y="1450200"/>
            <a:ext cx="2869525" cy="214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646075" y="3870050"/>
            <a:ext cx="1939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squared</a:t>
            </a:r>
            <a:r>
              <a:rPr lang="en" sz="1800">
                <a:solidFill>
                  <a:schemeClr val="lt1"/>
                </a:solidFill>
              </a:rPr>
              <a:t>-L2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66" name="Google Shape;166;p28"/>
          <p:cNvPicPr preferRelativeResize="0"/>
          <p:nvPr/>
        </p:nvPicPr>
        <p:blipFill rotWithShape="1">
          <a:blip r:embed="rId4">
            <a:alphaModFix/>
          </a:blip>
          <a:srcRect b="11002" l="12492" r="10394" t="12433"/>
          <a:stretch/>
        </p:blipFill>
        <p:spPr>
          <a:xfrm>
            <a:off x="3171575" y="1466663"/>
            <a:ext cx="2835174" cy="21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/>
        </p:nvSpPr>
        <p:spPr>
          <a:xfrm>
            <a:off x="3253629" y="3870050"/>
            <a:ext cx="2622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L2-Norm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5">
            <a:alphaModFix/>
          </a:blip>
          <a:srcRect b="10995" l="12504" r="10352" t="12434"/>
          <a:stretch/>
        </p:blipFill>
        <p:spPr>
          <a:xfrm>
            <a:off x="6127900" y="1467100"/>
            <a:ext cx="2835174" cy="211062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6280250" y="3870050"/>
            <a:ext cx="25449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Huber-L1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Q3 - Objective Function Plots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RRMSE: Denoising using Dictionary Learning</a:t>
            </a:r>
            <a:endParaRPr sz="2380">
              <a:solidFill>
                <a:schemeClr val="lt1"/>
              </a:solidFill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574925" y="1132700"/>
            <a:ext cx="5286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Pre denoising RRMSE : 0.73871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Post denoising RRMSE : 0.65972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Objective Function v/s Iterations(Dictionary Learning)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338" y="847875"/>
            <a:ext cx="6385320" cy="39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Objective Function v/s Iterations(Dictionary Learning)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338" y="847875"/>
            <a:ext cx="6385320" cy="39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Objective Function v/s Iterations(Dictionary Learning)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338" y="847875"/>
            <a:ext cx="6385320" cy="39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Objective Function v/s Iterations(Dictionary Learning)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338" y="847875"/>
            <a:ext cx="6385320" cy="39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Objective Function v/s Iterations(Image Denoising p=0.8)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338" y="847875"/>
            <a:ext cx="6385320" cy="39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Q4 - Histograms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Q4 - Histograms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35" name="Google Shape;2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Q4 - Histograms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41" name="Google Shape;2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1061450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Q4 - Histograms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1083200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Initial Dictionary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53" name="Google Shape;25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88" y="956775"/>
            <a:ext cx="3990824" cy="399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Learned Dictionary p = 2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59" name="Google Shape;25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88" y="978525"/>
            <a:ext cx="3990824" cy="399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Learned Dictionary p = 1.6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65" name="Google Shape;2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88" y="956625"/>
            <a:ext cx="3990824" cy="399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Learned Dictionary p = 1.2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71" name="Google Shape;2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88" y="1032900"/>
            <a:ext cx="3990824" cy="399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Learned Dictionary p = 0.8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77" name="Google Shape;27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88" y="935025"/>
            <a:ext cx="3990824" cy="399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type="ctrTitle"/>
          </p:nvPr>
        </p:nvSpPr>
        <p:spPr>
          <a:xfrm>
            <a:off x="311700" y="93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80">
                <a:solidFill>
                  <a:schemeClr val="lt1"/>
                </a:solidFill>
              </a:rPr>
              <a:t>Q4 - Original / Noisy / Denoised</a:t>
            </a:r>
            <a:endParaRPr sz="2380">
              <a:solidFill>
                <a:schemeClr val="lt1"/>
              </a:solidFill>
            </a:endParaRPr>
          </a:p>
        </p:txBody>
      </p:sp>
      <p:pic>
        <p:nvPicPr>
          <p:cNvPr id="283" name="Google Shape;28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15625"/>
            <a:ext cx="8839200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ctrTitle"/>
          </p:nvPr>
        </p:nvSpPr>
        <p:spPr>
          <a:xfrm>
            <a:off x="708750" y="2038950"/>
            <a:ext cx="7726500" cy="10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6580">
                <a:solidFill>
                  <a:schemeClr val="lt1"/>
                </a:solidFill>
              </a:rPr>
              <a:t>Thank You</a:t>
            </a:r>
            <a:endParaRPr b="1" i="1" sz="65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